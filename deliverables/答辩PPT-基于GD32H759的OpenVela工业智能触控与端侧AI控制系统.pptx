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各位评委老师好，我带来的作品是基于 GD32H759 的 OpenVela 工业智能触控与端侧 AI 控制系统。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核心一句话：把 openvela 开源操作系统从零移植到国产 GD32H759 芯片上，实现端侧触控、实时频谱分析和手写识别一体化。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本页展示作品全称、参赛队伍与选题方向：新硬件平台适配。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接下来我按五个部分汇报。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第一部分介绍兆易创新与 GD32H7 平台，以及 openvela 系统的不可替代性；第二部分讲系统总体框架、功能叙述和实物展示；第三部分详细介绍系统功能；第四部分讲端侧 AI 部署，分析平台端侧 AI 能力；第五部分讲 AI 使用 Skill 开发。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第一章先介绍平台。兆易创新是国产存储和 MCU 双主业的龙头企业，NOR Flash 出货量全球领先，GD32 系列是国产 32 位 MCU 的主力品牌。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2023 年发布的 GD32H7 是中国首款 Cortex-M7 内核 MCU：600 兆赫兹主频，带硬件 DSP、双精度 FPU 和三角函数加速，最高 3840KB Flash、1024KB SRAM，双 14 位 4MSPS ADC，还有 TLI 并行 RGB 和 EXMC SDRAM，非常适合工业 HMI 和端侧信号处理。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openvela 是小米开源的嵌入式操作系统，基于 NuttX 内核，POSIX 兼容、高度可裁剪，面向 IoT 和端侧智能场景。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它的不可替代性有三点：一是开源可控，OS 和图形栈全自主，没有商业授权和供应链风险；二是 NuttX 生态和官方驱动完善；三是与 AI 编程工具深度配合，非常适合 AI-Native 开发。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选型背景：进口芯片依赖、商业方案封闭、断网不可用，这三个痛点决定了国产高算力 MCU 加开源 OS 是最优解。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系统分四层：应用层是自绘白底 GUI 的四个入口；服务层是 GUI 框架、信号处理、控制识别；内核驱动层是 openvela 加板级和芯片级驱动；硬件层是 GD32H759 核心板及其外设。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选型上对比了 STM32H750 和 ESP32-S3：前者进口、后者算力图形不足；GD32H759 国产、600MHz、带 TLI 并行 RGB 显示接口和外部 SDRAM，最合适。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关键取舍：纯端侧、断网可用；自绘 framebuffer，不依赖商业图形库。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左边是核心板实拍：GD32H759IMT6 主控，外接 SDRAM、LCD、触摸、LED 和 ADC 输入。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右边是五类驱动从零打通的清单：TLI 显示、SDRAM、GT911 触摸、ADC 采样、软件 PWM，全部寄存器级实现。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三个典型排障值得强调：SDRAM 伴线通过时序扫描收敛；ADC 恒 0 是两个根因（主采样函数未调用、采样时钟被清）；RCU 总线错误是基址写错，对照官方库修正。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三个核心机制，每样都有量化数据。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第一，FFT：256 点采样、128 条频谱、主峰实时显示，采样率 36 千赫兹。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第二，软件 PWM：红灯引脚没有定时器通道复用，用 TIMER1 更新中断做 100 赫兹软件 PWM，滑块 0 到 100 调亮度。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第三，手写识别：100 个自采样本训练的 MLP，int8 量化，推理小于 10 毫秒。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右侧是测量控制界面实拍：FFT 994 和 PWM 36 都显示在屏幕上。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 GUI 和三条数据链路。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主界面四个入口：触摸跟随、手写识别、测量控制、系统信息，触摸做了九点校准和边沿触发防抖。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三条链路互相独立：触摸到绘制、ADC 到频谱、滑块到 LED 亮度，互不阻塞。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右下角是系统信息界面实拍，展示主控、时钟、内存、屏幕和触摸信息。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左侧六个性能指标都是实测值：固件 596KB、Flash 28.4%、47 版迭代、ADC 采样率 36 千赫、128 条频谱、识别延迟小于 10 毫秒。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右侧功能测试表九项全过：启动、SDRAM、LCD、触摸、LED、PWM、ADC、FFT、手写识别。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测试环境写在底部：核心板 V1.3、800 乘 480 屏、固件 v90、串口 115200，数据可复现。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这一页说明 AI-Native 开发方式。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左侧指标表：AI Coding 占比约九成，工具以豆包为主加 Claude Code，未使用 MCP，Skills 参考官方集并新增沉淀了一个，Token 以对话日志为准。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 AI 参与的三种方式：寄存器级排障、47 版快速迭代闭环、Skill 沉淀复用。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口径说明：AI 负责驱动内核 GUI 算法的主体代码，用户负责硬件验证、需求定义和现场实测。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最后总结三点：openvela 在国产 GD32H759 上完整跑通；端侧触控频谱识别三合一；AI-Native 工程闭环，代码已合入赛事专属仓。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下一步三条线：外设扩展、算法增强、工程化。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交付路径：专属仓地址、全套提交材料，演示视频另行提交。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感谢各位评委，欢迎到作品展示区实测体验。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最后用三句话总结：第一，openvela 在国产 GD32H759 上完整跑通，固件仅 596 KB；第二，触控、频谱、识别三合一，全部在端侧完成，断网可用、零数据外传；第三，约九成代码由 AI 协作产出，47 版迭代，Skill 沉淀，代码已合入赛事专属仓。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感谢各位评委聆听，欢迎到作品展示区实测体验。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449" b="449"/>
          <a:stretch>
            <a:fillRect/>
          </a:stretch>
        </p:blipFill>
        <p:spPr>
          <a:xfrm>
            <a:off x="1701800" y="584200"/>
            <a:ext cx="19050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48" r="48"/>
          <a:stretch>
            <a:fillRect/>
          </a:stretch>
        </p:blipFill>
        <p:spPr>
          <a:xfrm>
            <a:off x="4368800" y="419100"/>
            <a:ext cx="6858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78" b="178"/>
          <a:stretch>
            <a:fillRect/>
          </a:stretch>
        </p:blipFill>
        <p:spPr>
          <a:xfrm>
            <a:off x="5816600" y="533400"/>
            <a:ext cx="17780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 l="413" r="413"/>
          <a:stretch>
            <a:fillRect/>
          </a:stretch>
        </p:blipFill>
        <p:spPr>
          <a:xfrm>
            <a:off x="8356600" y="482600"/>
            <a:ext cx="6096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rcRect t="125" b="125"/>
          <a:stretch>
            <a:fillRect/>
          </a:stretch>
        </p:blipFill>
        <p:spPr>
          <a:xfrm>
            <a:off x="9728200" y="495300"/>
            <a:ext cx="762000" cy="53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016000" y="22352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4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基于GD32H759的OpenVela</a:t>
            </a:r>
            <a:endParaRPr lang="en-US" sz="1100"/>
          </a:p>
          <a:p>
            <a:pPr marL="0" indent="0" algn="ctr">
              <a:lnSpc>
                <a:spcPct val="95833"/>
              </a:lnSpc>
            </a:pPr>
            <a:r>
              <a:rPr lang="en-US" sz="4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工业智能触控与端侧AI控制系统</a:t>
            </a:r>
          </a:p>
        </p:txBody>
      </p:sp>
      <p:sp>
        <p:nvSpPr>
          <p:cNvPr id="8" name="AutoShape 8"/>
          <p:cNvSpPr/>
          <p:nvPr/>
        </p:nvSpPr>
        <p:spPr>
          <a:xfrm>
            <a:off x="2286000" y="40132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国产</a:t>
            </a:r>
            <a:r>
              <a:rPr lang="en-US" sz="20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MCU + </a:t>
            </a:r>
            <a:r>
              <a:rPr lang="en-US" sz="2000" b="0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开源</a:t>
            </a:r>
            <a:r>
              <a:rPr lang="en-US" sz="20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OS：端侧触控</a:t>
            </a:r>
            <a:r>
              <a:rPr lang="en-US" sz="20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频谱</a:t>
            </a:r>
            <a:r>
              <a:rPr lang="en-US" sz="20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识别一体化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-17188">
            <a:off x="4826016" y="48450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2286000" y="5588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2026 </a:t>
            </a:r>
            <a:r>
              <a:rPr lang="en-US" sz="16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首届</a:t>
            </a:r>
            <a:r>
              <a:rPr lang="en-US" sz="16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openvela</a:t>
            </a:r>
            <a:r>
              <a:rPr lang="en-US" sz="16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AI </a:t>
            </a:r>
            <a:r>
              <a:rPr lang="en-US" sz="16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硬件开发者大赛</a:t>
            </a:r>
            <a:r>
              <a:rPr lang="en-US" sz="16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赛题</a:t>
            </a:r>
            <a:r>
              <a:rPr lang="en-US" sz="16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471 · </a:t>
            </a:r>
            <a:r>
              <a:rPr lang="en-US" sz="16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新硬件平台适配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2286000" y="60960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5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斯巴克氖龍</a:t>
            </a:r>
            <a:r>
              <a:rPr lang="en-US" sz="15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实验室（sibakenailongshiyanshi</a:t>
            </a:r>
            <a:r>
              <a:rPr lang="en-US" sz="15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） · </a:t>
            </a:r>
            <a:r>
              <a:rPr lang="zh-CN" altLang="en-US" sz="1500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李见秋</a:t>
            </a:r>
            <a:r>
              <a:rPr lang="en-US" sz="15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· 2026-09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or 7"/>
          <p:cNvCxnSpPr/>
          <p:nvPr/>
        </p:nvCxnSpPr>
        <p:spPr>
          <a:xfrm rot="-4092">
            <a:off x="808186" y="1076614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08182" y="1387764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08182" y="1463964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68582" y="1387764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兆易创新介绍 · GD32H7 平台介绍 · 小米 openvela 系统介绍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8182" y="2175164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08182" y="2251364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68582" y="2175164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系统总体框架 + 功能叙述 + 实物展示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8182" y="2962564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8182" y="3038764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468582" y="2962564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系统功能详细介绍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8182" y="3749964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08182" y="3826164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468582" y="3749964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端侧 AI 部署 · 平台端侧 AI 能力分析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08182" y="4537364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08182" y="4613564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468582" y="4537364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AI 使用 Skill 开发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4092">
            <a:off x="808179" y="5889912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28">
            <a:extLst>
              <a:ext uri="{FF2B5EF4-FFF2-40B4-BE49-F238E27FC236}">
                <a16:creationId xmlns:a16="http://schemas.microsoft.com/office/drawing/2014/main" id="{D8986640-661F-6AD6-9606-31DF1262DF38}"/>
              </a:ext>
            </a:extLst>
          </p:cNvPr>
          <p:cNvSpPr/>
          <p:nvPr/>
        </p:nvSpPr>
        <p:spPr>
          <a:xfrm>
            <a:off x="808175" y="522778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7" name="AutoShape 29">
            <a:extLst>
              <a:ext uri="{FF2B5EF4-FFF2-40B4-BE49-F238E27FC236}">
                <a16:creationId xmlns:a16="http://schemas.microsoft.com/office/drawing/2014/main" id="{6BA798D0-24FF-40D3-2092-14AF8A7872BA}"/>
              </a:ext>
            </a:extLst>
          </p:cNvPr>
          <p:cNvSpPr/>
          <p:nvPr/>
        </p:nvSpPr>
        <p:spPr>
          <a:xfrm>
            <a:off x="808175" y="530398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6</a:t>
            </a:r>
            <a:endParaRPr lang="en-US" sz="1100" dirty="0"/>
          </a:p>
        </p:txBody>
      </p:sp>
      <p:sp>
        <p:nvSpPr>
          <p:cNvPr id="39" name="AutoShape 30">
            <a:extLst>
              <a:ext uri="{FF2B5EF4-FFF2-40B4-BE49-F238E27FC236}">
                <a16:creationId xmlns:a16="http://schemas.microsoft.com/office/drawing/2014/main" id="{7E47F584-82AC-5857-2650-8E76418068C6}"/>
              </a:ext>
            </a:extLst>
          </p:cNvPr>
          <p:cNvSpPr/>
          <p:nvPr/>
        </p:nvSpPr>
        <p:spPr>
          <a:xfrm>
            <a:off x="1468575" y="5227780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7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 dirty="0"/>
          </a:p>
        </p:txBody>
      </p:sp>
      <p:sp>
        <p:nvSpPr>
          <p:cNvPr id="45" name="AutoShape 5">
            <a:extLst>
              <a:ext uri="{FF2B5EF4-FFF2-40B4-BE49-F238E27FC236}">
                <a16:creationId xmlns:a16="http://schemas.microsoft.com/office/drawing/2014/main" id="{0281EFF1-E402-C5FD-AEBB-2606E2F94A65}"/>
              </a:ext>
            </a:extLst>
          </p:cNvPr>
          <p:cNvSpPr/>
          <p:nvPr/>
        </p:nvSpPr>
        <p:spPr>
          <a:xfrm>
            <a:off x="808182" y="397164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55600"/>
            <a:ext cx="609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兆易创新 / GD32H7 平台介绍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922000" y="3556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03 / 12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016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兆易创新与</a:t>
            </a:r>
            <a:r>
              <a:rPr lang="en-US" sz="28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GD32H7 </a:t>
            </a:r>
            <a:r>
              <a:rPr lang="en-US" sz="28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平台介绍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4092">
            <a:off x="762004" y="1695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62000" y="2006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兆易创新 · GigaDevice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6162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26924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22400" y="26162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国产存储 + MCU 双主业龙头企业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22400" y="30226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NOR Flash 出货量全球领先，MCU 覆盖通用 / 车规 / 无线全谱系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7338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22400" y="37338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GD32 系列：国产 32 位 MCU 主力品牌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22400" y="41402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GD32 全系覆盖 M0 / M3 / M4 / M7 / RISC-V，生态工具链成熟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8514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49276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422400" y="48514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GD32H7：中国首款 Cortex-M7 内核 MCU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422400" y="52578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2023-05 发布，填补国产高算力 MCU 空白，面向工业 / HMI / 储能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2006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GD32H7 平台 · 高算力规格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26162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350000" y="26924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010400" y="2616200"/>
            <a:ext cx="444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Cortex-M7 @ 600 MHz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010400" y="3022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Armv7E-M 架构，同频较 M4 性能提升约 40%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37338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350000" y="3810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010400" y="3733800"/>
            <a:ext cx="444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硬件 DSP + 双精度 FPU + TMU / FAC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010400" y="41402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三角函数加速单元，适合 FFT / 滤波等信号处理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48514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350000" y="49276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010400" y="4851400"/>
            <a:ext cx="444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最高 3840 KB Flash / 1024 KB SRAM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010400" y="52578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含 512 KB TCM + 64 KB L1-Cache，大模型 / 大缓冲友好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350000" y="59690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350000" y="60452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010400" y="5969000"/>
            <a:ext cx="444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双 14bit 4MSPS ADC · CAN-FD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010400" y="6350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高速采样 + 工业总线，H759 另带 TLI 并行 RGB / EXMC SDRAM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55600"/>
            <a:ext cx="609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openvela 系统介绍（不可替代性）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922000" y="3556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04 / 12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016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openvela 系统介绍 · 不可替代性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0" y="1117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第一章 · 系统篇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092">
            <a:off x="762004" y="1695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62000" y="2006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openvela 是什么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6162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26924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22400" y="26162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小米开源的嵌入式操作系统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22400" y="30226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NuttX 内核，面向 IoT 与端侧智能场景持续演进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7338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22400" y="37338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POSIX 兼容 · 高度可裁剪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22400" y="41402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标准接口 + 模块化组件，适配工业控制 / HMI / 端侧 AI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8514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49276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422400" y="48514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代码开源开放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422400" y="52578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可审计、可定制、可长期维护，无商业授权依赖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2006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为什么不可替代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26162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350000" y="26924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010400" y="2616200"/>
            <a:ext cx="444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开源可控：规避授权与供应链风险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010400" y="3022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OS 与图形栈全自主，替代进口芯片 + 商业图形库方案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37338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350000" y="3810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010400" y="3733800"/>
            <a:ext cx="444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生态与工具链完整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010400" y="41402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NuttX 生态 + 官方驱动适配，社区活跃、上手成本低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48514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350000" y="49276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010400" y="4851400"/>
            <a:ext cx="444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端侧 AI 协同友好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010400" y="52578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与 AI 编程工具深度配合，AI-Native 开发效率高（见第五章）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4092">
            <a:off x="762004" y="6013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762000" y="62738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选型背景：进口芯片依赖 · 商业方案封闭 · 断网不可用 → 国产高算力 MCU + 开源 OS 是最优解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556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系统总体框架 + 功能叙述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922000" y="3556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05 / 12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016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系统总体架构：四层结构，全链路国产化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000" y="1778000"/>
            <a:ext cx="7620000" cy="4775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6629400"/>
            <a:ext cx="330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图 1 系统四层架构（应用 / 服务 / 内核驱动 / 硬件）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763000" y="190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关键设计取舍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8763014" y="23304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763000" y="24892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对比方案：STM32H750（进口）、ESP32-S3（算力/图形不足）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选型理由：GD32H759 = 国产 + Cortex-M7@600MHz + TLI 并行 RGB + 外部 SDRAM</a:t>
            </a:r>
          </a:p>
        </p:txBody>
      </p:sp>
      <p:cxnSp>
        <p:nvCxnSpPr>
          <p:cNvPr id="11" name="Connector 11"/>
          <p:cNvCxnSpPr/>
          <p:nvPr/>
        </p:nvCxnSpPr>
        <p:spPr>
          <a:xfrm rot="-14946">
            <a:off x="8763014" y="405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763000" y="42164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端 / 云划分：纯端侧运行，断网 / 弱网零依赖，无数据外传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8763014" y="55308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763000" y="56896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图形方案：自绘 framebuffer，轻量可控，不依赖商业图形库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556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实物展示 · 硬件适配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922000" y="3556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06 / 12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016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硬件适配：五类驱动从零打通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000" y="1905000"/>
            <a:ext cx="4826000" cy="3619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5613400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GD32H759IMT6 Core Board V1.3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59182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主控：GD32H759IMT6（Cortex-M7@600MHz）</a:t>
            </a:r>
            <a:b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外设：W9825G6KH SDRAM · WKS43WV067 LCD · GT911 触摸 · PC13/PJ8 LED · PA4 ADC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969000" y="1905000"/>
          <a:ext cx="5842000" cy="3886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驱动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实现要点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实测结果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TLI LCD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寄存器直操，800x480 RGB565 并行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无伴线伪影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SDRAM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EXMC 时序，SDCTL=0x59d9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384000px 稳定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GT911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软 I2C + 大小端坐标解码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 点校准通过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ADC0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CH18/PA4，14bit 单次转换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恒 0 两因修复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软件 PWM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TIMER1 更新中断 100Hz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RCU 基址修正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AutoShape 10"/>
          <p:cNvSpPr/>
          <p:nvPr/>
        </p:nvSpPr>
        <p:spPr>
          <a:xfrm>
            <a:off x="5969000" y="5918200"/>
            <a:ext cx="584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典型排障：SDRAM 伴线（时序扫描收敛）· ADC 恒 0（主采样未调用 + 采样时钟被清）· RCU 总线错误（0x58024040 → 0x58024440）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556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系统功能（一）· 核心机制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922000" y="3556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07 / 12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016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核心机制：频谱 · 调光 · 识别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19812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22400" y="19050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FFT 实时频谱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422400" y="2438400"/>
            <a:ext cx="584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ADC0 14bit 256 点采样（36,363 Hz）→ 基-2 FFT → 128 条频谱幅度 → 峰值搜索主峰频率，时域 + 频谱双面板实时绘制。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7473">
            <a:off x="762007" y="33210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62000" y="35814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36576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22400" y="35814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软件 PWM 亮度调节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422400" y="4114800"/>
            <a:ext cx="584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PC13 无定时器通道复用 → TIMER1 更新中断（PSC=199/CAR=99，100Hz）按占空比计数翻转 GPIO，滑块 0-100% 调亮。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7473">
            <a:off x="762007" y="49974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62000" y="52578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422400" y="5257800"/>
            <a:ext cx="508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端侧手写识别（MLP）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422400" y="5791200"/>
            <a:ext cx="584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自有 100 样本（0-9 各 10）训练 H=48 隐藏层 MLP，权重 int8 量化，纯 C 前向推理 &lt;10ms，不依赖外部 AI 框架。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rcRect l="107" r="107"/>
          <a:stretch>
            <a:fillRect/>
          </a:stretch>
        </p:blipFill>
        <p:spPr>
          <a:xfrm>
            <a:off x="7620000" y="1905000"/>
            <a:ext cx="3937000" cy="295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7696200" y="4953000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测量控制界面：FFT 994 · PWM 36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0" y="53340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实测：红灯/绿灯控制、时域波形 + 128 条频谱、PWM 滑块与占空比数值、主峰频率实时显示。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556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系统功能（二）· GUI 与数据流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922000" y="3556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08 / 12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016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GUI 可视化系统与三条数据链路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32" b="32"/>
          <a:stretch>
            <a:fillRect/>
          </a:stretch>
        </p:blipFill>
        <p:spPr>
          <a:xfrm>
            <a:off x="635000" y="1778000"/>
            <a:ext cx="8128000" cy="3898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57658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图 2 触摸 / 信号 / 控制三条独立数据链路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44000" y="1778000"/>
            <a:ext cx="2540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9220200" y="3759200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系统信息界面实拍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44000" y="406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主界面 4 入口：触摸跟随 / 手写识别 / 测量控制 / 系统信息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9 点触摸校准 · 边沿触发防抖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五方合作标识（武理 / 小米 / openvela / 兆易 / 火花）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11200" y="61976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链路 1 触摸 → 坐标 → 事件 → 绘制；链路 2 ADC → FFT → 波形；链路 3 滑块 → 中断 → LED 亮度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556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· 测试结果 · 端侧 AI 能力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922000" y="3556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09 / 12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016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测试结果：全功能实测通过，数据可复现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性能指标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892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596 KB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25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固件体积（nuttx.bin v90）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7188">
            <a:off x="762016" y="37020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556000" y="24892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28.4%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325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Flash 占用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7188">
            <a:off x="3556016" y="37020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62000" y="40132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47 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775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固件迭代（v44 → v90）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7188">
            <a:off x="762016" y="52260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556000" y="40132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36 kHz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4775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ADC 显示采样率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7188">
            <a:off x="3556016" y="52260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762000" y="55372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128 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62738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FFT 频谱 + 主峰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556000" y="55372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&lt;10 ms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556000" y="62738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手写识别推理延迟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0" y="19050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功能测试</a:t>
            </a:r>
            <a:endParaRPr lang="en-US" sz="1100"/>
          </a:p>
        </p:txBody>
      </p: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6858000" y="2362200"/>
          <a:ext cx="4826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实测结果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NSH 启动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正常进入 nsh&gt; 提示符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SDRAM / TLI LCD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384000px，无伴线伪影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GT911 触摸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 点校准，坐标准确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LED + PWM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红绿受控，0-100% 调亮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ADC + FFT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256 点采样，主峰显示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手写识别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多轮实测可正确识别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AutoShape 25"/>
          <p:cNvSpPr/>
          <p:nvPr/>
        </p:nvSpPr>
        <p:spPr>
          <a:xfrm>
            <a:off x="6858000" y="62738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环境：Core Board V1.3 + 800x480 LCD · 固件 v90 · 串口 115200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556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· AI 使用 Skill 开发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922000" y="3556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10 / 12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016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AI-Native 开发：约 90% 代码由 AI 协作产出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905000"/>
          <a:ext cx="5461000" cy="419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Coding 占比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 90%（驱动/内核/GUI/算法主体由 AI 编写，用户负责硬件验证与需求）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使用的 AI 工具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豆包（Doubao）为主全程对话开发 + Claude Code（日志见 logs/）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MCP 使用情况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未使用 MCP（本地嵌入式开发无需外部工具链）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Skills 使用与新增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参考 openvela 官方驱动开发集；新增沉淀 gd32h759-vm-build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Token 使用总量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豆包会话无法导出精确计数，以 doubao-dev-log.md 全程记录为准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6858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AI 如何参与开发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549">
            <a:off x="6858009" y="23558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858000" y="25400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寄存器级排障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858000" y="28956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位域推算 + 时序窗口分析：ADC 恒 0、SDRAM 伴线、RCU 总线错误均按现象 → 假设 → 诊断实测收敛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549">
            <a:off x="6858009" y="367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858000" y="38608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47 版快速迭代闭环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858000" y="4216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编译-烧录-实测-下一版的短周期开发，AI 主导主体代码产出与每版问题定位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549">
            <a:off x="6858009" y="49974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858000" y="51816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Skill 沉淀复用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8000" y="55372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gd32h759-vm-build：VM 编译-上传-拉取固件闭环，封装 vm.sh + build_fw.sh，随仓交付可复用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556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922000" y="3556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11 / 12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016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三点成果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762008" y="2355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62000" y="25400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openvela 国产移植完整跑通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8956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SDRAM / TLI LCD / GT911 触摸 / NSH / GUI 全链路可用，固件仅 596 KB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594">
            <a:off x="762008" y="3676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62000" y="38608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端侧三合一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2164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触控显示 + 128 条 FFT 频谱 + MLP 手写识别，断网可用、零数据外传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8594">
            <a:off x="762008" y="4997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62000" y="51816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AI-Native 工程闭环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5372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约 90% AI Coding，47 版迭代，Skill 沉淀随仓交付，PR 已合入赛事专属仓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046">
            <a:off x="6604008" y="23558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604000" y="2540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外设扩展：I2C 传感器、双屏 / 大尺寸 LCD 适配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算法增强：更大样本识别、片上轻量 TFLite 探索</a:t>
            </a:r>
          </a:p>
          <a:p>
            <a:pPr marL="0" indent="0" algn="l">
              <a:lnSpc>
                <a:spcPct val="1125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工程化：低功耗优化、量产 BOM 与结构件设计</a:t>
            </a:r>
          </a:p>
        </p:txBody>
      </p:sp>
      <p:cxnSp>
        <p:nvCxnSpPr>
          <p:cNvPr id="19" name="Connector 19"/>
          <p:cNvCxnSpPr/>
          <p:nvPr/>
        </p:nvCxnSpPr>
        <p:spPr>
          <a:xfrm rot="-9046">
            <a:off x="6604008" y="38290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604000" y="4013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交付与采纳路径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44704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赛事专属仓：github.com/open-vela/contest2026_471_sibakenailongshiyanshi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提交材料：技术报告 / 作品照片 / 海报 / 答辩 PPT</a:t>
            </a:r>
          </a:p>
          <a:p>
            <a:pPr marL="0" indent="0" algn="l">
              <a:lnSpc>
                <a:spcPct val="1125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演示视频：另行提交</a:t>
            </a:r>
          </a:p>
        </p:txBody>
      </p:sp>
      <p:cxnSp>
        <p:nvCxnSpPr>
          <p:cNvPr id="22" name="Connector 22"/>
          <p:cNvCxnSpPr/>
          <p:nvPr/>
        </p:nvCxnSpPr>
        <p:spPr>
          <a:xfrm rot="-4092">
            <a:off x="762004" y="6013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 l="51" r="51"/>
          <a:stretch>
            <a:fillRect/>
          </a:stretch>
        </p:blipFill>
        <p:spPr>
          <a:xfrm>
            <a:off x="1143000" y="6197600"/>
            <a:ext cx="1397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rcRect l="48" r="48"/>
          <a:stretch>
            <a:fillRect/>
          </a:stretch>
        </p:blipFill>
        <p:spPr>
          <a:xfrm>
            <a:off x="3810000" y="61214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rcRect t="178" b="178"/>
          <a:stretch>
            <a:fillRect/>
          </a:stretch>
        </p:blipFill>
        <p:spPr>
          <a:xfrm>
            <a:off x="5334000" y="6172200"/>
            <a:ext cx="13335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rcRect t="37625" b="37624"/>
          <a:stretch>
            <a:fillRect/>
          </a:stretch>
        </p:blipFill>
        <p:spPr>
          <a:xfrm>
            <a:off x="7493000" y="6172200"/>
            <a:ext cx="15240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rcRect t="28625" b="28625"/>
          <a:stretch>
            <a:fillRect/>
          </a:stretch>
        </p:blipFill>
        <p:spPr>
          <a:xfrm>
            <a:off x="9779000" y="6172200"/>
            <a:ext cx="11430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556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922000" y="3556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12 / 12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0160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0" y="1117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GD32H759 · OpenVela · 端侧 AI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092">
            <a:off x="762004" y="1695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62000" y="21336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22098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22400" y="2133600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openvela 国产移植完整跑通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22400" y="2540000"/>
            <a:ext cx="787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596 KB 固件 · Flash 28.4% · SDRAM / TLI LCD / GT911 / NSH / GUI 全链路可用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2004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32766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422400" y="3200400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端侧三合一：触控 · 频谱 · 识别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22400" y="3606800"/>
            <a:ext cx="787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128 条 FFT 频谱 · MLP 手写识别（推理 &lt;10ms）· 断网可用 · 零数据外传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267200"/>
            <a:ext cx="431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3434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422400" y="4267200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AI-Native 工程闭环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422400" y="4673600"/>
            <a:ext cx="787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约 90% AI Coding · 47 版迭代 · Skill 沉淀 · 已合入赛事专属仓（PR #4）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092">
            <a:off x="762004" y="532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 t="449" b="449"/>
          <a:stretch>
            <a:fillRect/>
          </a:stretch>
        </p:blipFill>
        <p:spPr>
          <a:xfrm>
            <a:off x="1701800" y="5562600"/>
            <a:ext cx="19050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 l="48" r="48"/>
          <a:stretch>
            <a:fillRect/>
          </a:stretch>
        </p:blipFill>
        <p:spPr>
          <a:xfrm>
            <a:off x="4368800" y="5397500"/>
            <a:ext cx="6858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rcRect t="178" b="178"/>
          <a:stretch>
            <a:fillRect/>
          </a:stretch>
        </p:blipFill>
        <p:spPr>
          <a:xfrm>
            <a:off x="5816600" y="5511800"/>
            <a:ext cx="17780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rcRect l="413" r="413"/>
          <a:stretch>
            <a:fillRect/>
          </a:stretch>
        </p:blipFill>
        <p:spPr>
          <a:xfrm>
            <a:off x="8356600" y="5461000"/>
            <a:ext cx="6096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7"/>
          <a:srcRect t="124" b="125"/>
          <a:stretch>
            <a:fillRect/>
          </a:stretch>
        </p:blipFill>
        <p:spPr>
          <a:xfrm>
            <a:off x="9728200" y="5473700"/>
            <a:ext cx="762000" cy="53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762000" y="6350000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欢迎到作品展示区实测体验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1729</Words>
  <Application>Microsoft Office PowerPoint</Application>
  <PresentationFormat>宽屏</PresentationFormat>
  <Paragraphs>273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见秋 李</cp:lastModifiedBy>
  <cp:revision>4</cp:revision>
  <dcterms:modified xsi:type="dcterms:W3CDTF">2026-09-14T09:09:40Z</dcterms:modified>
</cp:coreProperties>
</file>